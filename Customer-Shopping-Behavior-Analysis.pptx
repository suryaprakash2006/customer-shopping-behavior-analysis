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110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spending patterns, customer segments, and product preferences from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transactions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07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8422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1953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25988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Rows in 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308422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768206" y="1953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25988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 per record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841054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$59.76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1603697" y="34860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Avg. Purchase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79251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spend per order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2841054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37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768206" y="34860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379251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Review Rating only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17879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 span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demographics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(Age, Gender, Location, Subscription Status),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details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(Item, Category, Amount, Season), and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behavior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(Discount, Promo Code, Frequency, Review Rating, Shipping Type).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FF1EFC-C8E7-5EDC-0521-FB9A036FDEF5}"/>
              </a:ext>
            </a:extLst>
          </p:cNvPr>
          <p:cNvSpPr/>
          <p:nvPr/>
        </p:nvSpPr>
        <p:spPr>
          <a:xfrm>
            <a:off x="7990449" y="4859453"/>
            <a:ext cx="1076179" cy="2268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4664"/>
            <a:ext cx="508054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 in Python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1064642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10602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 &amp; Explore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1366763"/>
            <a:ext cx="4262065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via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used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structure and statistics.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2113062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1086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 Missing Data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415183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37 missing Review Ratings using the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rating per product category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3156719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31523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458840"/>
            <a:ext cx="4262065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bins and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dropped redundant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column.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4209901"/>
            <a:ext cx="212601" cy="2126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85816" y="4205511"/>
            <a:ext cx="1806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385816" y="4512022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cleaned DataFrame into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SQL analysis.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4B4603-63FF-7CE4-CA16-80CAB773E3EF}"/>
              </a:ext>
            </a:extLst>
          </p:cNvPr>
          <p:cNvSpPr/>
          <p:nvPr/>
        </p:nvSpPr>
        <p:spPr>
          <a:xfrm>
            <a:off x="7990449" y="4859453"/>
            <a:ext cx="1076179" cy="2268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97378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&amp; High-Spending Customers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generated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$157,890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more than double female revenue at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$75,191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35721"/>
            <a:ext cx="31305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High-Spending Discount Users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798936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839 customers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used discounts yet spent </a:t>
            </a:r>
            <a:r>
              <a:rPr lang="en-US" sz="11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above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average purchase amount — indicating strong deal-seeking but high-value buyers worth targeting with premium offers.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A7B1CC-10D4-9EBA-0559-050A4629CE35}"/>
              </a:ext>
            </a:extLst>
          </p:cNvPr>
          <p:cNvSpPr/>
          <p:nvPr/>
        </p:nvSpPr>
        <p:spPr>
          <a:xfrm>
            <a:off x="7990449" y="4859453"/>
            <a:ext cx="1076179" cy="2268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7732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Ratings &amp; Shipping Behavior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6082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5 Products by Rating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Gloves lead with a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3.86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average review rating. All top-rated products cluster tightly between 3.78–3.86.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35721"/>
            <a:ext cx="27961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Shipping Type Comparison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79893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 averages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$60.48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Standard at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$58.46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modest $2 premium. Overall average purchase amount across all shipping types is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$59.76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CF393-82BF-6480-1093-619833A01D92}"/>
              </a:ext>
            </a:extLst>
          </p:cNvPr>
          <p:cNvSpPr/>
          <p:nvPr/>
        </p:nvSpPr>
        <p:spPr>
          <a:xfrm>
            <a:off x="7990449" y="4859453"/>
            <a:ext cx="1076179" cy="2268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4597"/>
            <a:ext cx="62214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99654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38194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Subscription Gap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74515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 (73% of customers) generate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$170,436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revenue vs.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$62,645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subscribers (27%).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358256"/>
            <a:ext cx="3902943" cy="1233190"/>
          </a:xfrm>
          <a:prstGeom prst="roundRect">
            <a:avLst>
              <a:gd name="adj" fmla="val 4828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257331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521223"/>
            <a:ext cx="330048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spend is nearly identical: </a:t>
            </a: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$59.49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(subscribers) vs. </a:t>
            </a: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$59.87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(non-subscribers) — suggesting subscription status doesn't affect per-order value.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749701" y="3750915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Among repeat buyers (&gt;5 purchases),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958 subscribe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while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2,518 do not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major untapped conversion opportunity.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9CA3A2-16C0-510D-173B-2E4125A5C934}"/>
              </a:ext>
            </a:extLst>
          </p:cNvPr>
          <p:cNvSpPr/>
          <p:nvPr/>
        </p:nvSpPr>
        <p:spPr>
          <a:xfrm>
            <a:off x="7990449" y="4859453"/>
            <a:ext cx="1076179" cy="2268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4967"/>
            <a:ext cx="571589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Discount-Dependent Products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5147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five products have the highest percentage of purchases made with a discount applied: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37755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21842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249078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50.00%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discounted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037755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7122" y="21842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Sneakers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07122" y="249078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49.66%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discounted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037755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1605" y="21842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Coat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1605" y="249078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49.07%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discounted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005882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640" y="31524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Sweater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640" y="345891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48.17%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discounted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005882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9363" y="31524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89363" y="345891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47.37%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discounted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119" y="399171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Nearly half of all purchases for these items rely on discounts — a key signal for margin and pricing strategy.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E0A406-6B3B-666F-C964-8C565183B2C6}"/>
              </a:ext>
            </a:extLst>
          </p:cNvPr>
          <p:cNvSpPr/>
          <p:nvPr/>
        </p:nvSpPr>
        <p:spPr>
          <a:xfrm>
            <a:off x="7990449" y="4859453"/>
            <a:ext cx="1076179" cy="2268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66784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47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 dominate at 3,116 (80% of base), followed by 701 Returning and only 83 New customers.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35721"/>
            <a:ext cx="27072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Products by Category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798936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Accessories: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Jewelry, Sunglasses, Belt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Blouse, Pants, Shirt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Footwear: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Sandals, Shoes, Sneakers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Outerwear: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Jacket, Coat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4A73A3-15EC-5748-8595-3DE649FE9C2A}"/>
              </a:ext>
            </a:extLst>
          </p:cNvPr>
          <p:cNvSpPr/>
          <p:nvPr/>
        </p:nvSpPr>
        <p:spPr>
          <a:xfrm>
            <a:off x="7990449" y="4859453"/>
            <a:ext cx="1076179" cy="2268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28444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Age Group &amp; Power BI Dashboard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 Group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 lead revenue at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$62,143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other groups closely clustered — no single age group dominates.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3572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 Dashboard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798936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 features filters for Subscription, Gender, Category, and Shipping Type. Key visuals include revenue by category, sales by age group, and a donut chart showing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 subscribers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 non-subscribers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8D2C46-D4B0-B54B-E004-3DDD6C9D8543}"/>
              </a:ext>
            </a:extLst>
          </p:cNvPr>
          <p:cNvSpPr/>
          <p:nvPr/>
        </p:nvSpPr>
        <p:spPr>
          <a:xfrm>
            <a:off x="7990449" y="4859453"/>
            <a:ext cx="1076179" cy="2268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5640"/>
            <a:ext cx="535438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442145"/>
            <a:ext cx="2641774" cy="15353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16029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14077" y="1909465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subscriber benefits to convert the 73% non-subscriber base.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1551" y="1442145"/>
            <a:ext cx="2641774" cy="15353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8560" y="16029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78560" y="1909465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advance them into the "Loyal" segment (currently 80% of customers).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6033" y="1442145"/>
            <a:ext cx="2641774" cy="15353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3042" y="1602953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43042" y="1909465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~50% of top product sales rely on discounts — balance sales lift with margin control.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3119289"/>
            <a:ext cx="2641774" cy="13085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4077" y="32800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14077" y="3586609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top-rated products (Gloves, Sandals, Boots) and best-sellers in campaigns.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3119289"/>
            <a:ext cx="2641774" cy="13085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78560" y="32800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478560" y="3586609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high-revenue age groups (Young Adults) and express-shipping users.</a:t>
            </a:r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C7D14D-D263-83F6-1678-839DEBF99207}"/>
              </a:ext>
            </a:extLst>
          </p:cNvPr>
          <p:cNvSpPr/>
          <p:nvPr/>
        </p:nvSpPr>
        <p:spPr>
          <a:xfrm>
            <a:off x="7990449" y="4859453"/>
            <a:ext cx="1076179" cy="2268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642</Words>
  <Application>Microsoft Office PowerPoint</Application>
  <PresentationFormat>On-screen Show (16:9)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Inter</vt:lpstr>
      <vt:lpstr>Inter 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U SURYA PRAKASH</cp:lastModifiedBy>
  <cp:revision>2</cp:revision>
  <dcterms:created xsi:type="dcterms:W3CDTF">2026-06-05T09:18:43Z</dcterms:created>
  <dcterms:modified xsi:type="dcterms:W3CDTF">2026-06-05T09:20:38Z</dcterms:modified>
</cp:coreProperties>
</file>